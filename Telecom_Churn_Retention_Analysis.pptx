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2284B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2284B"/>
                </a:solidFill>
                <a:latin typeface="Calibri"/>
              </a:rPr>
              <a:t>Churn rate by contract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8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42.71</c:v>
                </c:pt>
                <c:pt idx="1">
                  <c:v>11.27</c:v>
                </c:pt>
                <c:pt idx="2">
                  <c:v>2.83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28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2284B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2284B"/>
                </a:solidFill>
                <a:latin typeface="Calibri"/>
              </a:rPr>
              <a:t>Churn rate by customer tenure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8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0-12 mo</c:v>
                  </c:pt>
                  <c:pt idx="1">
                    <c:v>13-24 mo</c:v>
                  </c:pt>
                  <c:pt idx="2">
                    <c:v>25-48 mo</c:v>
                  </c:pt>
                  <c:pt idx="3">
                    <c:v>49-72 mo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47.68</c:v>
                </c:pt>
                <c:pt idx="1">
                  <c:v>28.71</c:v>
                </c:pt>
                <c:pt idx="2">
                  <c:v>20.39</c:v>
                </c:pt>
                <c:pt idx="3">
                  <c:v>9.51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28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2284B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2284B"/>
                </a:solidFill>
                <a:latin typeface="Calibri"/>
              </a:rPr>
              <a:t>Churn rate by monthly charges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8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Low
($0-35)</c:v>
                  </c:pt>
                  <c:pt idx="1">
                    <c:v>Medium
($35-70)</c:v>
                  </c:pt>
                  <c:pt idx="2">
                    <c:v>High
($70-90)</c:v>
                  </c:pt>
                  <c:pt idx="3">
                    <c:v>Very high
($90+)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10.89</c:v>
                </c:pt>
                <c:pt idx="1">
                  <c:v>23.94</c:v>
                </c:pt>
                <c:pt idx="2">
                  <c:v>37.8</c:v>
                </c:pt>
                <c:pt idx="3">
                  <c:v>32.78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28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2284B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2284B"/>
                </a:solidFill>
                <a:latin typeface="Calibri"/>
              </a:rPr>
              <a:t>Churn rate: with vs without services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228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Tech support</c:v>
                  </c:pt>
                  <c:pt idx="1">
                    <c:v>Online security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41.64</c:v>
                </c:pt>
                <c:pt idx="1">
                  <c:v>41.77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1228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Tech support</c:v>
                  </c:pt>
                  <c:pt idx="1">
                    <c:v>Online security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15.17</c:v>
                </c:pt>
                <c:pt idx="1">
                  <c:v>14.61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50" u="none">
                  <a:solidFill>
                    <a:srgbClr val="1228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0"/>
        <c:axPos val="l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1" i="0" u="none" strike="noStrike">
                <a:solidFill>
                  <a:srgbClr val="12284B"/>
                </a:solidFill>
                <a:latin typeface="Calibri"/>
              </a:defRPr>
            </a:pPr>
            <a:r>
              <a:rPr sz="1300" b="1" i="0" u="none" strike="noStrike">
                <a:solidFill>
                  <a:srgbClr val="12284B"/>
                </a:solidFill>
                <a:latin typeface="Calibri"/>
              </a:rPr>
              <a:t>Churn rate by payment method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28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Electronic check</c:v>
                  </c:pt>
                  <c:pt idx="1">
                    <c:v>Mailed check</c:v>
                  </c:pt>
                  <c:pt idx="2">
                    <c:v>Bank transfer (auto)</c:v>
                  </c:pt>
                  <c:pt idx="3">
                    <c:v>Credit card (auto)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45.29</c:v>
                </c:pt>
                <c:pt idx="1">
                  <c:v>19.11</c:v>
                </c:pt>
                <c:pt idx="2">
                  <c:v>16.71</c:v>
                </c:pt>
                <c:pt idx="3">
                  <c:v>15.24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228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5"/>
        </c:scaling>
        <c:delete val="0"/>
        <c:axPos val="b"/>
        <c:majorGridlines>
          <c:spPr>
            <a:ln w="6350" cap="flat">
              <a:solidFill>
                <a:srgbClr val="E4E4E4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284B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1C3A6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4846320"/>
            <a:ext cx="2743200" cy="2743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317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INSIGHTS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 &amp; Retention Analysis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7490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churn drivers and data-driven retention opportunities across 7,043 customers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989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Tanjina Faria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 University  |  Data source: IBM Telco Customer Churn dataset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&amp; methodology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6035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is one of the most expensive problems telecom operators face — acquiring a new customer typically costs far more than retaining an existing one. 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identifies who is leaving, why, and what actions could reduce it.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218688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50215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fields, resolved missing values, verified data types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995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968496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42519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examined across contract, tenure, pricing, and services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457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457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4718304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500176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grouped into four behavior-based risk segments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95544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955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5468112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575157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translated into targeted retention actions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03720" y="1645920"/>
            <a:ext cx="4846320" cy="4434840"/>
          </a:xfrm>
          <a:prstGeom prst="roundRect">
            <a:avLst>
              <a:gd name="adj" fmla="val 2474"/>
            </a:avLst>
          </a:prstGeom>
          <a:solidFill>
            <a:srgbClr val="F4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726948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269480" y="24231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7269480" y="29900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 analyzed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269480" y="33832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69480" y="39502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per customer (contract, billing, services, tenure)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269480" y="43434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7269480" y="49103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269480" y="53035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7269480" y="58704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Behavior-based customer segments identified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Insights &amp; Retention Analysis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734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Commitment matters more than price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without a contract lock-in, and those still new, churn at dramatically higher rates.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53949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126480" y="1965960"/>
          <a:ext cx="5623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Insights &amp; Retention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734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services strongly reduce churn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bills raise churn risk, but bundled support and security services cut it by more than half.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53949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126480" y="1965960"/>
          <a:ext cx="5623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Insights &amp; Retention Analysis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E8734A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behavior signals engagement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on manual payment methods churn nearly 3x more than those on autopay.</a:t>
            </a:r>
            <a:endParaRPr lang="en-US" sz="13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965960"/>
          <a:ext cx="66751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452360" y="1965960"/>
            <a:ext cx="4297680" cy="4160520"/>
          </a:xfrm>
          <a:prstGeom prst="roundRect">
            <a:avLst>
              <a:gd name="adj" fmla="val 2637"/>
            </a:avLst>
          </a:prstGeom>
          <a:solidFill>
            <a:srgbClr val="12284B"/>
          </a:solidFill>
          <a:ln/>
        </p:spPr>
      </p:sp>
      <p:sp>
        <p:nvSpPr>
          <p:cNvPr id="8" name="Text 5"/>
          <p:cNvSpPr/>
          <p:nvPr/>
        </p:nvSpPr>
        <p:spPr>
          <a:xfrm>
            <a:off x="7818120" y="22402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1812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 check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818120" y="30358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45.3% churn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818120" y="36576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one-off payments correlate with lower commitment and weaker engagement — a simple flag for retention outreach.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818120" y="4983480"/>
            <a:ext cx="320040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512064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Autopay methods (bank transfer, credit card) churn at 15-17% — under half the rate.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Insights &amp; Retention Analysis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customer segments, four different risk levels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grouped by contract type, tenure, pricing, and support services.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4F6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057400"/>
            <a:ext cx="2724912" cy="822960"/>
          </a:xfrm>
          <a:prstGeom prst="roundRect">
            <a:avLst>
              <a:gd name="adj" fmla="val 11111"/>
            </a:avLst>
          </a:prstGeom>
          <a:solidFill>
            <a:srgbClr val="E8734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514600"/>
            <a:ext cx="2724912" cy="36576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10312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new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1792" y="30632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58.96%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" y="37033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" y="4114800"/>
            <a:ext cx="2395728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251960"/>
            <a:ext cx="239572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1,545 customers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 mo avg tenure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$67.41 avg charge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19272" y="205740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19272" y="2057400"/>
            <a:ext cx="2724912" cy="822960"/>
          </a:xfrm>
          <a:prstGeom prst="roundRect">
            <a:avLst>
              <a:gd name="adj" fmla="val 11111"/>
            </a:avLst>
          </a:prstGeom>
          <a:solidFill>
            <a:srgbClr val="E89B4A"/>
          </a:solidFill>
          <a:ln/>
        </p:spPr>
      </p:sp>
      <p:sp>
        <p:nvSpPr>
          <p:cNvPr id="16" name="Shape 14"/>
          <p:cNvSpPr/>
          <p:nvPr/>
        </p:nvSpPr>
        <p:spPr>
          <a:xfrm>
            <a:off x="3319272" y="2514600"/>
            <a:ext cx="2724912" cy="365760"/>
          </a:xfrm>
          <a:prstGeom prst="rect">
            <a:avLst/>
          </a:prstGeom>
          <a:solidFill>
            <a:srgbClr val="E89B4A"/>
          </a:solidFill>
          <a:ln/>
        </p:spPr>
      </p:sp>
      <p:sp>
        <p:nvSpPr>
          <p:cNvPr id="17" name="Text 15"/>
          <p:cNvSpPr/>
          <p:nvPr/>
        </p:nvSpPr>
        <p:spPr>
          <a:xfrm>
            <a:off x="3483864" y="210312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at-risk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483864" y="30632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43.44%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3483864" y="37033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83864" y="4114800"/>
            <a:ext cx="2395728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83864" y="4251960"/>
            <a:ext cx="239572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1,151 customers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34.0 mo avg tenure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$90.22 avg charge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81344" y="205740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4F6F8"/>
          </a:solidFill>
          <a:ln/>
        </p:spPr>
      </p:sp>
      <p:sp>
        <p:nvSpPr>
          <p:cNvPr id="23" name="Shape 21"/>
          <p:cNvSpPr/>
          <p:nvPr/>
        </p:nvSpPr>
        <p:spPr>
          <a:xfrm>
            <a:off x="6181344" y="2057400"/>
            <a:ext cx="2724912" cy="822960"/>
          </a:xfrm>
          <a:prstGeom prst="roundRect">
            <a:avLst>
              <a:gd name="adj" fmla="val 11111"/>
            </a:avLst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6181344" y="2514600"/>
            <a:ext cx="2724912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/>
          <p:nvPr/>
        </p:nvSpPr>
        <p:spPr>
          <a:xfrm>
            <a:off x="6345936" y="210312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/ moderate-risk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345936" y="30632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11.55%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6345936" y="37033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45936" y="4114800"/>
            <a:ext cx="2395728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45936" y="4251960"/>
            <a:ext cx="239572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3,671 customers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 mo avg tenure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$51.64 avg charge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043416" y="205740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4F6F8"/>
          </a:solidFill>
          <a:ln/>
        </p:spPr>
      </p:sp>
      <p:sp>
        <p:nvSpPr>
          <p:cNvPr id="31" name="Shape 29"/>
          <p:cNvSpPr/>
          <p:nvPr/>
        </p:nvSpPr>
        <p:spPr>
          <a:xfrm>
            <a:off x="9043416" y="2057400"/>
            <a:ext cx="2724912" cy="822960"/>
          </a:xfrm>
          <a:prstGeom prst="roundRect">
            <a:avLst>
              <a:gd name="adj" fmla="val 11111"/>
            </a:avLst>
          </a:prstGeom>
          <a:solidFill>
            <a:srgbClr val="3E8E5A"/>
          </a:solidFill>
          <a:ln/>
        </p:spPr>
      </p:sp>
      <p:sp>
        <p:nvSpPr>
          <p:cNvPr id="32" name="Shape 30"/>
          <p:cNvSpPr/>
          <p:nvPr/>
        </p:nvSpPr>
        <p:spPr>
          <a:xfrm>
            <a:off x="9043416" y="2514600"/>
            <a:ext cx="2724912" cy="36576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33" name="Text 31"/>
          <p:cNvSpPr/>
          <p:nvPr/>
        </p:nvSpPr>
        <p:spPr>
          <a:xfrm>
            <a:off x="9208008" y="2103120"/>
            <a:ext cx="23957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long-term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9208008" y="3063240"/>
            <a:ext cx="239572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5.03%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9208008" y="3703320"/>
            <a:ext cx="2395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208008" y="4114800"/>
            <a:ext cx="2395728" cy="0"/>
          </a:xfrm>
          <a:prstGeom prst="line">
            <a:avLst/>
          </a:prstGeom>
          <a:noFill/>
          <a:ln w="9525">
            <a:solidFill>
              <a:srgbClr val="D8D8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208008" y="4251960"/>
            <a:ext cx="239572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676 customers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65.8 mo avg tenure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$86.61 avg charge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Insights &amp; Retention Analysis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2377440" cy="310896"/>
          </a:xfrm>
          <a:prstGeom prst="roundRect">
            <a:avLst>
              <a:gd name="adj" fmla="val 50000"/>
            </a:avLst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insight into retention actions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801368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746504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month-to-month customers to annual contracts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31343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Incentivize the switch from 42.7% to 2.8% churn risk.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72968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" y="3374136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31927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onboarding in the first 12 months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churn at 47.7% — the highest of any group.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745736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" y="4946904"/>
            <a:ext cx="457200" cy="45720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89204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support services for at-risk segments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545896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support &amp; security cut churn from ~42% to ~15%.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0" y="160020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5961888" y="18013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5961888" y="1801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83680" y="1746504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pricing at the $70-90 charge tier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0" y="2313432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bracket shows the single highest churn rate, 37.8%.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60720" y="3172968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26" name="Shape 24"/>
          <p:cNvSpPr/>
          <p:nvPr/>
        </p:nvSpPr>
        <p:spPr>
          <a:xfrm>
            <a:off x="5961888" y="337413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5961888" y="33741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83680" y="331927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autopay adoption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83680" y="388620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users churn 45.3% vs 15-17% on autopay.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4745736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31" name="Shape 29"/>
          <p:cNvSpPr/>
          <p:nvPr/>
        </p:nvSpPr>
        <p:spPr>
          <a:xfrm>
            <a:off x="5961888" y="4946904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5961888" y="49469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83680" y="4892040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22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the two highest-risk segments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5458968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New &amp; Price-Sensitive At-Risk = 38% of customers.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Customer Insights &amp; Retention Analysis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65992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8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463040"/>
            <a:ext cx="3840480" cy="3840480"/>
          </a:xfrm>
          <a:prstGeom prst="ellipse">
            <a:avLst/>
          </a:prstGeom>
          <a:solidFill>
            <a:srgbClr val="1C3A66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572000"/>
            <a:ext cx="3291840" cy="3291840"/>
          </a:xfrm>
          <a:prstGeom prst="ellipse">
            <a:avLst/>
          </a:prstGeom>
          <a:solidFill>
            <a:srgbClr val="1C7293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is predictable — and preventable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shows churn isn't primarily about price. 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high-paying customers stay loyal (5% churn) when they have long tenure, contract commitment, and support services — while similarly high-paying customers without those show 43% churn.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overall churn rate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11880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11880" y="4526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driving 65% of churn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0" y="3931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4526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retention actions identified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486400"/>
            <a:ext cx="10515600" cy="0"/>
          </a:xfrm>
          <a:prstGeom prst="line">
            <a:avLst/>
          </a:prstGeom>
          <a:noFill/>
          <a:ln w="12700">
            <a:solidFill>
              <a:srgbClr val="1C3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669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analysis, live dashboard, and code: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github.com/tanjina1261/telecom-customer-churn-analysis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2026-09-09T07:46:53Z</dcterms:created>
  <dcterms:modified xsi:type="dcterms:W3CDTF">2026-09-09T07:46:53Z</dcterms:modified>
</cp:coreProperties>
</file>